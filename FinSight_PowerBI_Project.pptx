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kar Basha" userId="0d42922e046f37b1" providerId="LiveId" clId="{95B12636-C86E-4614-ADD6-99D53EF2BB29}"/>
    <pc:docChg chg="modSld">
      <pc:chgData name="Askar Basha" userId="0d42922e046f37b1" providerId="LiveId" clId="{95B12636-C86E-4614-ADD6-99D53EF2BB29}" dt="2026-09-02T08:44:16.248" v="14" actId="14100"/>
      <pc:docMkLst>
        <pc:docMk/>
      </pc:docMkLst>
      <pc:sldChg chg="addSp modSp mod">
        <pc:chgData name="Askar Basha" userId="0d42922e046f37b1" providerId="LiveId" clId="{95B12636-C86E-4614-ADD6-99D53EF2BB29}" dt="2026-09-02T08:44:16.248" v="14" actId="14100"/>
        <pc:sldMkLst>
          <pc:docMk/>
          <pc:sldMk cId="0" sldId="260"/>
        </pc:sldMkLst>
        <pc:spChg chg="mod">
          <ac:chgData name="Askar Basha" userId="0d42922e046f37b1" providerId="LiveId" clId="{95B12636-C86E-4614-ADD6-99D53EF2BB29}" dt="2026-09-02T08:42:47.571" v="0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Askar Basha" userId="0d42922e046f37b1" providerId="LiveId" clId="{95B12636-C86E-4614-ADD6-99D53EF2BB29}" dt="2026-09-02T08:42:55.560" v="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skar Basha" userId="0d42922e046f37b1" providerId="LiveId" clId="{95B12636-C86E-4614-ADD6-99D53EF2BB29}" dt="2026-09-02T08:43:14.936" v="3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skar Basha" userId="0d42922e046f37b1" providerId="LiveId" clId="{95B12636-C86E-4614-ADD6-99D53EF2BB29}" dt="2026-09-02T08:43:21.244" v="4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Askar Basha" userId="0d42922e046f37b1" providerId="LiveId" clId="{95B12636-C86E-4614-ADD6-99D53EF2BB29}" dt="2026-09-02T08:43:25.014" v="5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Askar Basha" userId="0d42922e046f37b1" providerId="LiveId" clId="{95B12636-C86E-4614-ADD6-99D53EF2BB29}" dt="2026-09-02T08:43:30.730" v="6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Askar Basha" userId="0d42922e046f37b1" providerId="LiveId" clId="{95B12636-C86E-4614-ADD6-99D53EF2BB29}" dt="2026-09-02T08:43:38.768" v="7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skar Basha" userId="0d42922e046f37b1" providerId="LiveId" clId="{95B12636-C86E-4614-ADD6-99D53EF2BB29}" dt="2026-09-02T08:43:50.470" v="8" actId="1076"/>
          <ac:spMkLst>
            <pc:docMk/>
            <pc:sldMk cId="0" sldId="260"/>
            <ac:spMk id="11" creationId="{00000000-0000-0000-0000-000000000000}"/>
          </ac:spMkLst>
        </pc:spChg>
        <pc:picChg chg="add mod">
          <ac:chgData name="Askar Basha" userId="0d42922e046f37b1" providerId="LiveId" clId="{95B12636-C86E-4614-ADD6-99D53EF2BB29}" dt="2026-09-02T08:44:16.248" v="14" actId="14100"/>
          <ac:picMkLst>
            <pc:docMk/>
            <pc:sldMk cId="0" sldId="260"/>
            <ac:picMk id="16" creationId="{A247C186-5908-5BFE-F506-5DBFB2649AE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38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D1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0D1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00200" y="78638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FinSight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FinSight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 Analytics Dashboard, Built End-to-End in Power BI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→  Data Modeling  →  DAX Measures  →  Interactive Dashboards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|  Power BI  ·  DAX  ·  Power Query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exists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finance team real-time visibility into transaction health, customer behavior, and risk — in one place.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371600" y="33832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transaction volume and value trends over time, by month and by year.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371600" y="41605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performance by customer segment, gender, state, and occupation.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71600" y="493776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transaction status (success / failed / pending) to spot operational risk.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76072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≣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371600" y="571500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fees, tax, and transaction counts across every transaction type.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 loaded into Power BI, connected on Customer 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38100" dir="5400000" algn="bl" rotWithShape="0">
              <a:srgbClr val="1B22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64008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Transactions  (Fact)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8493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118104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351276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58444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817620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05079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Category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283964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517136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Amount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7503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Amount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(INR)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521665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Status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449824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Fraud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682996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591616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Number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1783080"/>
            <a:ext cx="52578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38100" dir="5400000" algn="bl" rotWithShape="0">
              <a:srgbClr val="1B22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63640" y="1783080"/>
            <a:ext cx="5257800" cy="6400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37960" y="1783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 (Dimension)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2651760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7960" y="288493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3118104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3351276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358444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3817620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405079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37960" y="4283964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37960" y="4517136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37960" y="47503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37960" y="4983480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Date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37960" y="5715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Customer ID  →  used to connect both tables in the data model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in Power Query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via Column Distribution, Column Quality, and Column Profile before transforming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03911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2585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 contained duplicates — identified and removed.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0" y="203911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178040" y="1947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78040" y="22585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Amount had NULLs — filled with the column average (₹14.52).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68680" y="373075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␣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54480" y="3639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95020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had extra whitespace — fixed with Transform → Format → Trim.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47472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0" y="373075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178040" y="3639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amounts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95020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held negative values — corrected with Transform → Scientific → Absolute.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" y="542239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1554480" y="5330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64184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values standardized with Transform → Format → UPPERCASE.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5166360"/>
            <a:ext cx="5257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92240" y="542239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9224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7178040" y="5330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fields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564184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First Name + Last Name merged into a single Full Name column.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star-schema style model, joined on Customer ID, with a dedicated date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3200400" cy="914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4652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200401"/>
            <a:ext cx="3200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868680" y="323585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Transactions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 Table)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661574"/>
            <a:ext cx="3200400" cy="9144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4626119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(Dimension)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38089" y="2697481"/>
            <a:ext cx="0" cy="50292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16629" y="4150256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5806440"/>
            <a:ext cx="10881360" cy="777240"/>
          </a:xfrm>
          <a:prstGeom prst="rect">
            <a:avLst/>
          </a:prstGeom>
          <a:solidFill>
            <a:srgbClr val="0D16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58064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 Table = </a:t>
            </a: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CALENDAR( MIN(Finance_Transactions[Transaction_Date]), MAX(Finance_Transactions[Transaction_Date]) 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47C186-5908-5BFE-F506-5DBFB2649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418" y="1806414"/>
            <a:ext cx="7198175" cy="3867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The 5 Core KPIs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follows the same pattern: Current  →  Prior Year (SAMEPERIODLASTYEAR)  →  YoY  →  YoY %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299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029968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20391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₹137.53M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 Amount 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52928" y="1783080"/>
            <a:ext cx="20299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52928" y="1783080"/>
            <a:ext cx="2029968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62656" y="20391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62656" y="25603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14.94K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62656" y="32004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 Transaction ID 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65776" y="1783080"/>
            <a:ext cx="20299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65776" y="1783080"/>
            <a:ext cx="2029968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75504" y="20391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Value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75504" y="25603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₹9.20K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75504" y="32004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 Amount 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78624" y="1783080"/>
            <a:ext cx="20299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278624" y="1783080"/>
            <a:ext cx="2029968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88352" y="20391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88352" y="25603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₹216.94K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88352" y="32004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 Fee Amount 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91472" y="1783080"/>
            <a:ext cx="20299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491472" y="1783080"/>
            <a:ext cx="2029968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601200" y="20391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Tax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01200" y="25603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₹39.04K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0" y="32004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 Tax Amount 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4160520"/>
            <a:ext cx="10881360" cy="178308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6012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pattern (applied to every KPI above)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8006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Amount = CALCULATE( [Total Amount], SAMEPERIODLASTYEAR( Calendar[Date] ) 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0120" y="516636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YoY Amount = [Total Amount] − [PY Amount]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0120" y="55321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YoY % Amount = DIVIDE( [YoY Amount], [PY Amount] 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“Dynamic Measure” parameter — Total Amount / Total Transactions / Total Fees / Total Tax — driving every chart on the report from a single slicer.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1 — Overview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 with YoY  ·  monthly trend  ·  status, segment, state &amp; gender breakdowns  ·  transaction-type summary table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07400" y="1316736"/>
            <a:ext cx="9974153" cy="5321808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1788338085253_Screenshot_2026-09-01_2148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64" y="1371600"/>
            <a:ext cx="9864425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2 — Transactions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detail table — Transaction ID, date, customer, type, status, segment, state, amount, fees &amp; tax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3659" y="1316736"/>
            <a:ext cx="10121633" cy="5321808"/>
          </a:xfrm>
          <a:prstGeom prst="rect">
            <a:avLst/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1788338093737_Screenshot_2026-09-01_2148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23" y="1371600"/>
            <a:ext cx="10011905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analytics workflow, in one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0" y="214884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116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⌁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profiling, cleaning &amp; transformation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715000" y="214884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1500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2628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relationships &amp; date tables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418320" y="214884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4183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ƒx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22960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time-intelligence &amp; YoY measures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011680" y="434340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01168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22960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5532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user-driven measure switching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06908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715000" y="434340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71500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4526280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5532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hierarchy &amp; interactivity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25400" dir="5400000" algn="bl" rotWithShape="0">
              <a:srgbClr val="1B22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418320" y="4343400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418320" y="4343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8229600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55321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numbers into insight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D1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0D1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82996" y="13716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682996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34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reading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554480" y="3337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— a finance analytics dashboard built end-to-end in Power BI, from raw data to real-time insight.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54396" y="4160520"/>
            <a:ext cx="128016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files &amp; PBIX walkthrough on GitHub  ·  Let's connect on LinkedIn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713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Askar Basha</cp:lastModifiedBy>
  <cp:revision>1</cp:revision>
  <dcterms:created xsi:type="dcterms:W3CDTF">2026-09-02T08:38:11Z</dcterms:created>
  <dcterms:modified xsi:type="dcterms:W3CDTF">2026-09-02T08:44:18Z</dcterms:modified>
</cp:coreProperties>
</file>